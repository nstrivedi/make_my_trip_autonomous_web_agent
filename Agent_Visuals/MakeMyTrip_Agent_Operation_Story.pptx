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8686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9476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1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chemeClr val="accent2">
              <a:alpha val="4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3" name="Decor circl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" name="Eyebrow"/>
          <p:cNvSpPr txBox="1"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FC4D6"/>
                </a:solidFill>
              </a:rPr>
              <a:t>THE UPGRADE STORY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From Console Agent to a Full Travel Dashboard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794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9 services, a click-through Streamlit app, and a fast cheapest-fare-per-date mode.</a:t>
            </a:r>
            <a:endParaRPr lang="en-US" sz="1800" dirty="0"/>
          </a:p>
        </p:txBody>
      </p:sp>
      <p:sp>
        <p:nvSpPr>
          <p:cNvPr id="7" name="Footer"/>
          <p:cNvSpPr txBox="1"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4D6"/>
                </a:solidFill>
              </a:rPr>
              <a:t>MakeMyTrip: Autonomous Web Operations Agent  ·  browser-use + Playwright + Gemini (free tier) +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Idea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 agent that reasons about a page like a human, not like a script</a:t>
            </a:r>
            <a:endParaRPr lang="en-US" sz="1400" dirty="0"/>
          </a:p>
        </p:txBody>
      </p:sp>
      <p:sp>
        <p:nvSpPr>
          <p:cNvPr id="6" name="Bullets"/>
          <p:cNvSpPr txBox="1"/>
          <p:nvPr/>
        </p:nvSpPr>
        <p:spPr>
          <a:xfrm>
            <a:off x="548640" y="20116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Traditional automation breaks the moment a website's UI changes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This agent perceives the page, reasons about it, and acts — then repeats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Fully free stack: Gemini free tier, no paid API</a:t>
            </a:r>
            <a:endParaRPr lang="en-US" sz="1800" dirty="0"/>
          </a:p>
        </p:txBody>
      </p:sp>
      <p:sp>
        <p:nvSpPr>
          <p:cNvPr id="7" name="Loop box 1"/>
          <p:cNvSpPr/>
          <p:nvPr/>
        </p:nvSpPr>
        <p:spPr>
          <a:xfrm>
            <a:off x="6126480" y="219456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Loop label 1"/>
          <p:cNvSpPr txBox="1"/>
          <p:nvPr/>
        </p:nvSpPr>
        <p:spPr>
          <a:xfrm>
            <a:off x="6126480" y="21945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 Task</a:t>
            </a:r>
            <a:endParaRPr lang="en-US" sz="1400" dirty="0"/>
          </a:p>
        </p:txBody>
      </p:sp>
      <p:sp>
        <p:nvSpPr>
          <p:cNvPr id="9" name="Loop arrow 1"/>
          <p:cNvSpPr txBox="1"/>
          <p:nvPr/>
        </p:nvSpPr>
        <p:spPr>
          <a:xfrm>
            <a:off x="7360920" y="219456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Loop box 2"/>
          <p:cNvSpPr/>
          <p:nvPr/>
        </p:nvSpPr>
        <p:spPr>
          <a:xfrm>
            <a:off x="7543800" y="219456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Loop label 2"/>
          <p:cNvSpPr txBox="1"/>
          <p:nvPr/>
        </p:nvSpPr>
        <p:spPr>
          <a:xfrm>
            <a:off x="7543800" y="21945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LLM Brain</a:t>
            </a:r>
            <a:endParaRPr lang="en-US" sz="1400" dirty="0"/>
          </a:p>
        </p:txBody>
      </p:sp>
      <p:sp>
        <p:nvSpPr>
          <p:cNvPr id="12" name="Loop arrow 2"/>
          <p:cNvSpPr txBox="1"/>
          <p:nvPr/>
        </p:nvSpPr>
        <p:spPr>
          <a:xfrm>
            <a:off x="8778240" y="219456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Loop box 3"/>
          <p:cNvSpPr/>
          <p:nvPr/>
        </p:nvSpPr>
        <p:spPr>
          <a:xfrm>
            <a:off x="8961120" y="2194560"/>
            <a:ext cx="123444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Loop label 3"/>
          <p:cNvSpPr txBox="1"/>
          <p:nvPr/>
        </p:nvSpPr>
        <p:spPr>
          <a:xfrm>
            <a:off x="8961120" y="21945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Action</a:t>
            </a:r>
            <a:endParaRPr lang="en-US" sz="1400" dirty="0"/>
          </a:p>
        </p:txBody>
      </p:sp>
      <p:sp>
        <p:nvSpPr>
          <p:cNvPr id="15" name="Loop arrow 3"/>
          <p:cNvSpPr txBox="1"/>
          <p:nvPr/>
        </p:nvSpPr>
        <p:spPr>
          <a:xfrm>
            <a:off x="10195560" y="219456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Loop box 4"/>
          <p:cNvSpPr/>
          <p:nvPr/>
        </p:nvSpPr>
        <p:spPr>
          <a:xfrm>
            <a:off x="10378440" y="219456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2E86A8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Loop label 4"/>
          <p:cNvSpPr txBox="1"/>
          <p:nvPr/>
        </p:nvSpPr>
        <p:spPr>
          <a:xfrm>
            <a:off x="10378440" y="21945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</a:t>
            </a:r>
            <a:endParaRPr lang="en-US" sz="1400" dirty="0"/>
          </a:p>
        </p:txBody>
      </p:sp>
      <p:sp>
        <p:nvSpPr>
          <p:cNvPr id="18" name="Loop caption"/>
          <p:cNvSpPr txBox="1"/>
          <p:nvPr/>
        </p:nvSpPr>
        <p:spPr>
          <a:xfrm>
            <a:off x="61264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Perceive → Reason → Act → Repeat</a:t>
            </a:r>
            <a:endParaRPr lang="en-US" sz="1400" dirty="0"/>
          </a:p>
        </p:txBody>
      </p:sp>
      <p:sp>
        <p:nvSpPr>
          <p:cNvPr id="19" name="Stack card"/>
          <p:cNvSpPr/>
          <p:nvPr/>
        </p:nvSpPr>
        <p:spPr>
          <a:xfrm>
            <a:off x="6126480" y="3794760"/>
            <a:ext cx="54864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rgbClr val="C7D6DE"/>
            </a:solidFill>
            <a:prstDash val="solid"/>
          </a:ln>
        </p:spPr>
      </p:sp>
      <p:sp>
        <p:nvSpPr>
          <p:cNvPr id="20" name="Stack text"/>
          <p:cNvSpPr txBox="1"/>
          <p:nvPr/>
        </p:nvSpPr>
        <p:spPr>
          <a:xfrm>
            <a:off x="6126480" y="3794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Tech stack: browser-use + Playwright + Gemini (free) + Streamlit</a:t>
            </a:r>
            <a:endParaRPr lang="en-US" sz="1400" dirty="0"/>
          </a:p>
        </p:txBody>
      </p:sp>
      <p:sp>
        <p:nvSpPr>
          <p:cNvPr id="21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watching the agent drive a real MakeMyTrip search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Agent at Work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real Chrome window on the left, the agent's reasoning on the right</a:t>
            </a:r>
            <a:endParaRPr lang="en-US" sz="1400" dirty="0"/>
          </a:p>
        </p:txBody>
      </p:sp>
      <p:sp>
        <p:nvSpPr>
          <p:cNvPr id="6" name="Step circle 1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number 1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tep text 1"/>
          <p:cNvSpPr txBox="1"/>
          <p:nvPr/>
        </p:nvSpPr>
        <p:spPr>
          <a:xfrm>
            <a:off x="1188720" y="1874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Opens makemytrip.com and searches Ahmedabad → New Delhi, 19 Sep 26</a:t>
            </a:r>
            <a:endParaRPr lang="en-US" sz="1500" dirty="0"/>
          </a:p>
        </p:txBody>
      </p:sp>
      <p:sp>
        <p:nvSpPr>
          <p:cNvPr id="9" name="Step circle 2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2"/>
          <p:cNvSpPr txBox="1"/>
          <p:nvPr/>
        </p:nvSpPr>
        <p:spPr>
          <a:xfrm>
            <a:off x="5486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1188720" y="286207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Scrolls the results and reads airline, flight number, time and price</a:t>
            </a:r>
            <a:endParaRPr lang="en-US" sz="1500" dirty="0"/>
          </a:p>
        </p:txBody>
      </p:sp>
      <p:sp>
        <p:nvSpPr>
          <p:cNvPr id="12" name="Step circle 3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number 3"/>
          <p:cNvSpPr txBox="1"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tep text 3"/>
          <p:cNvSpPr txBox="1"/>
          <p:nvPr/>
        </p:nvSpPr>
        <p:spPr>
          <a:xfrm>
            <a:off x="1188720" y="384962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Evaluates every step (“Verdict: Success”) and sets the next goal</a:t>
            </a:r>
            <a:endParaRPr lang="en-US" sz="1500" dirty="0"/>
          </a:p>
        </p:txBody>
      </p:sp>
      <p:sp>
        <p:nvSpPr>
          <p:cNvPr id="15" name="Step circle 4"/>
          <p:cNvSpPr/>
          <p:nvPr/>
        </p:nvSpPr>
        <p:spPr>
          <a:xfrm>
            <a:off x="548640" y="4928616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Step number 4"/>
          <p:cNvSpPr txBox="1"/>
          <p:nvPr/>
        </p:nvSpPr>
        <p:spPr>
          <a:xfrm>
            <a:off x="54864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Step text 4"/>
          <p:cNvSpPr txBox="1"/>
          <p:nvPr/>
        </p:nvSpPr>
        <p:spPr>
          <a:xfrm>
            <a:off x="1188720" y="483717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Returns structured JSON — “Task completed successfully”</a:t>
            </a:r>
            <a:endParaRPr lang="en-US" sz="1500" dirty="0"/>
          </a:p>
        </p:txBody>
      </p:sp>
      <p:sp>
        <p:nvSpPr>
          <p:cNvPr id="18" name="Image frame"/>
          <p:cNvSpPr/>
          <p:nvPr/>
        </p:nvSpPr>
        <p:spPr>
          <a:xfrm>
            <a:off x="5687568" y="1892808"/>
            <a:ext cx="5998464" cy="3219608"/>
          </a:xfrm>
          <a:prstGeom prst="rect">
            <a:avLst/>
          </a:prstGeom>
          <a:solidFill>
            <a:schemeClr val="bg1"/>
          </a:solidFill>
          <a:ln w="9525">
            <a:solidFill>
              <a:srgbClr val="C7D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9" name="Image 0" descr="Browser and agent log, side by 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965960"/>
            <a:ext cx="5852160" cy="3073304"/>
          </a:xfrm>
          <a:prstGeom prst="rect">
            <a:avLst/>
          </a:prstGeom>
        </p:spPr>
      </p:pic>
      <p:sp>
        <p:nvSpPr>
          <p:cNvPr id="20" name="Caption"/>
          <p:cNvSpPr txBox="1"/>
          <p:nvPr/>
        </p:nvSpPr>
        <p:spPr>
          <a:xfrm>
            <a:off x="5687568" y="5167280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Browser and agent log, side by side</a:t>
            </a:r>
            <a:endParaRPr lang="en-US" sz="1100" dirty="0"/>
          </a:p>
        </p:txBody>
      </p:sp>
      <p:sp>
        <p:nvSpPr>
          <p:cNvPr id="21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turning what the page shows into clean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Taming the Output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From a busy results page to validated, structured JSON</a:t>
            </a:r>
            <a:endParaRPr lang="en-US" sz="1400" dirty="0"/>
          </a:p>
        </p:txBody>
      </p:sp>
      <p:sp>
        <p:nvSpPr>
          <p:cNvPr id="6" name="Image frame"/>
          <p:cNvSpPr/>
          <p:nvPr/>
        </p:nvSpPr>
        <p:spPr>
          <a:xfrm>
            <a:off x="475488" y="1892808"/>
            <a:ext cx="5907024" cy="3201964"/>
          </a:xfrm>
          <a:prstGeom prst="rect">
            <a:avLst/>
          </a:prstGeom>
          <a:solidFill>
            <a:schemeClr val="bg1"/>
          </a:solidFill>
          <a:ln w="9525">
            <a:solidFill>
              <a:srgbClr val="C7D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Image 0" descr="MakeMyTrip results page the agent rea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760720" cy="305566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" y="5149636"/>
            <a:ext cx="5907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MakeMyTrip results page the agent reads</a:t>
            </a:r>
            <a:endParaRPr lang="en-US" sz="1100" dirty="0"/>
          </a:p>
        </p:txBody>
      </p:sp>
      <p:sp>
        <p:nvSpPr>
          <p:cNvPr id="9" name="Bullets"/>
          <p:cNvSpPr txBox="1"/>
          <p:nvPr/>
        </p:nvSpPr>
        <p:spPr>
          <a:xfrm>
            <a:off x="548640" y="55702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Pydantic schema tells the agent exactly which fields matter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 is predictable JSON — ready for a UI, a database or an API</a:t>
            </a:r>
            <a:endParaRPr lang="en-US" sz="1400" dirty="0"/>
          </a:p>
        </p:txBody>
      </p:sp>
      <p:sp>
        <p:nvSpPr>
          <p:cNvPr id="10" name="JSON card"/>
          <p:cNvSpPr/>
          <p:nvPr/>
        </p:nvSpPr>
        <p:spPr>
          <a:xfrm>
            <a:off x="6858000" y="1965960"/>
            <a:ext cx="4754880" cy="31089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JSON text"/>
          <p:cNvSpPr txBox="1"/>
          <p:nvPr/>
        </p:nvSpPr>
        <p:spPr>
          <a:xfrm>
            <a:off x="7132320" y="224028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"airline": "Air India",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"flight_number": "AI-2938",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"departure_time": "18:55",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"price": "₹ 7,048"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the same pattern, applied to hotels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4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Hotels, Same Pattern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new service in minutes: one schema plus one focused task prompt</a:t>
            </a:r>
            <a:endParaRPr lang="en-US" sz="1400" dirty="0"/>
          </a:p>
        </p:txBody>
      </p:sp>
      <p:sp>
        <p:nvSpPr>
          <p:cNvPr id="6" name="Bullets"/>
          <p:cNvSpPr txBox="1"/>
          <p:nvPr/>
        </p:nvSpPr>
        <p:spPr>
          <a:xfrm>
            <a:off x="548640" y="196596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Goa, top 5: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name, area, rating and price per night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Cheapest: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Panjim City Dorms at ₹876 per night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Priciest: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Beira Mar Beach Resorts at ₹4,914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Saved automatically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 a timestamped file in results/</a:t>
            </a:r>
            <a:endParaRPr lang="en-US" sz="1600" dirty="0"/>
          </a:p>
        </p:txBody>
      </p:sp>
      <p:sp>
        <p:nvSpPr>
          <p:cNvPr id="7" name="Image frame"/>
          <p:cNvSpPr/>
          <p:nvPr/>
        </p:nvSpPr>
        <p:spPr>
          <a:xfrm>
            <a:off x="5138928" y="1892808"/>
            <a:ext cx="6547104" cy="3564304"/>
          </a:xfrm>
          <a:prstGeom prst="rect">
            <a:avLst/>
          </a:prstGeom>
          <a:solidFill>
            <a:schemeClr val="bg1"/>
          </a:solidFill>
          <a:ln w="9525">
            <a:solidFill>
              <a:srgbClr val="C7D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Terminal: top 5 Goa hotels extracted and sa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965960"/>
            <a:ext cx="6400800" cy="341800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138928" y="5511976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Terminal: top 5 Goa hotels extracted and saved</a:t>
            </a:r>
            <a:endParaRPr lang="en-US" sz="1100" dirty="0"/>
          </a:p>
        </p:txBody>
      </p:sp>
      <p:sp>
        <p:nvSpPr>
          <p:cNvPr id="10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giving it a real interface anyone can click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5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Real Interface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Streamlit app on localhost:8501 — no terminal needed to search</a:t>
            </a:r>
            <a:endParaRPr lang="en-US" sz="1400" dirty="0"/>
          </a:p>
        </p:txBody>
      </p:sp>
      <p:sp>
        <p:nvSpPr>
          <p:cNvPr id="6" name="Bullets"/>
          <p:cNvSpPr txBox="1"/>
          <p:nvPr/>
        </p:nvSpPr>
        <p:spPr>
          <a:xfrm>
            <a:off x="548640" y="19659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tile per service on the home screen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Click a tile to open its guided search form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Everything runs through the same agent core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 cards, one calm blue theme</a:t>
            </a:r>
            <a:endParaRPr lang="en-US" sz="1600" dirty="0"/>
          </a:p>
        </p:txBody>
      </p:sp>
      <p:sp>
        <p:nvSpPr>
          <p:cNvPr id="7" name="Image frame"/>
          <p:cNvSpPr/>
          <p:nvPr/>
        </p:nvSpPr>
        <p:spPr>
          <a:xfrm>
            <a:off x="5138928" y="1892808"/>
            <a:ext cx="6547104" cy="4168343"/>
          </a:xfrm>
          <a:prstGeom prst="rect">
            <a:avLst/>
          </a:prstGeom>
          <a:solidFill>
            <a:schemeClr val="bg1"/>
          </a:solidFill>
          <a:ln w="9525">
            <a:solidFill>
              <a:srgbClr val="C7D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MakeMyTrip Autonomous Web Agent —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965960"/>
            <a:ext cx="6400800" cy="402203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138928" y="6116015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MakeMyTrip Autonomous Web Agent — home</a:t>
            </a:r>
            <a:endParaRPr lang="en-US" sz="1100" dirty="0"/>
          </a:p>
        </p:txBody>
      </p:sp>
      <p:sp>
        <p:nvSpPr>
          <p:cNvPr id="10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meet all nine services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6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Nine Services, One Agent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Each tile is a schema and a prompt on top of the same loop</a:t>
            </a:r>
            <a:endParaRPr lang="en-US" sz="1400" dirty="0"/>
          </a:p>
        </p:txBody>
      </p:sp>
      <p:sp>
        <p:nvSpPr>
          <p:cNvPr id="6" name="Service tile Flights"/>
          <p:cNvSpPr/>
          <p:nvPr/>
        </p:nvSpPr>
        <p:spPr>
          <a:xfrm>
            <a:off x="548640" y="192024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7" name="Tile text Flights"/>
          <p:cNvSpPr txBox="1"/>
          <p:nvPr/>
        </p:nvSpPr>
        <p:spPr>
          <a:xfrm>
            <a:off x="822960" y="19202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Flights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Fares &amp; timings</a:t>
            </a:r>
            <a:endParaRPr lang="en-US" sz="1800" dirty="0"/>
          </a:p>
        </p:txBody>
      </p:sp>
      <p:sp>
        <p:nvSpPr>
          <p:cNvPr id="8" name="Service tile Trains"/>
          <p:cNvSpPr/>
          <p:nvPr/>
        </p:nvSpPr>
        <p:spPr>
          <a:xfrm>
            <a:off x="4297680" y="192024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9" name="Tile text Trains"/>
          <p:cNvSpPr txBox="1"/>
          <p:nvPr/>
        </p:nvSpPr>
        <p:spPr>
          <a:xfrm>
            <a:off x="4572000" y="19202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Trains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Schedules &amp; fares</a:t>
            </a:r>
            <a:endParaRPr lang="en-US" sz="1800" dirty="0"/>
          </a:p>
        </p:txBody>
      </p:sp>
      <p:sp>
        <p:nvSpPr>
          <p:cNvPr id="10" name="Service tile Buses"/>
          <p:cNvSpPr/>
          <p:nvPr/>
        </p:nvSpPr>
        <p:spPr>
          <a:xfrm>
            <a:off x="8046720" y="192024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1" name="Tile text Buses"/>
          <p:cNvSpPr txBox="1"/>
          <p:nvPr/>
        </p:nvSpPr>
        <p:spPr>
          <a:xfrm>
            <a:off x="8321040" y="19202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Buses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Operators &amp; seats</a:t>
            </a:r>
            <a:endParaRPr lang="en-US" sz="1800" dirty="0"/>
          </a:p>
        </p:txBody>
      </p:sp>
      <p:sp>
        <p:nvSpPr>
          <p:cNvPr id="12" name="Service tile Cabs"/>
          <p:cNvSpPr/>
          <p:nvPr/>
        </p:nvSpPr>
        <p:spPr>
          <a:xfrm>
            <a:off x="548640" y="324612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3" name="Tile text Cabs"/>
          <p:cNvSpPr txBox="1"/>
          <p:nvPr/>
        </p:nvSpPr>
        <p:spPr>
          <a:xfrm>
            <a:off x="822960" y="32461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Cabs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Outstation rides</a:t>
            </a:r>
            <a:endParaRPr lang="en-US" sz="1800" dirty="0"/>
          </a:p>
        </p:txBody>
      </p:sp>
      <p:sp>
        <p:nvSpPr>
          <p:cNvPr id="14" name="Service tile Hotels"/>
          <p:cNvSpPr/>
          <p:nvPr/>
        </p:nvSpPr>
        <p:spPr>
          <a:xfrm>
            <a:off x="4297680" y="324612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5" name="Tile text Hotels"/>
          <p:cNvSpPr txBox="1"/>
          <p:nvPr/>
        </p:nvSpPr>
        <p:spPr>
          <a:xfrm>
            <a:off x="4572000" y="32461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Hotels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Stays per night</a:t>
            </a:r>
            <a:endParaRPr lang="en-US" sz="1800" dirty="0"/>
          </a:p>
        </p:txBody>
      </p:sp>
      <p:sp>
        <p:nvSpPr>
          <p:cNvPr id="16" name="Service tile Villas &amp; Homestays"/>
          <p:cNvSpPr/>
          <p:nvPr/>
        </p:nvSpPr>
        <p:spPr>
          <a:xfrm>
            <a:off x="8046720" y="324612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Tile text Villas &amp; Homestays"/>
          <p:cNvSpPr txBox="1"/>
          <p:nvPr/>
        </p:nvSpPr>
        <p:spPr>
          <a:xfrm>
            <a:off x="8321040" y="32461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Villas &amp; Homestays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Villas &amp; homestays</a:t>
            </a:r>
            <a:endParaRPr lang="en-US" sz="1800" dirty="0"/>
          </a:p>
        </p:txBody>
      </p:sp>
      <p:sp>
        <p:nvSpPr>
          <p:cNvPr id="18" name="Service tile Attractions"/>
          <p:cNvSpPr/>
          <p:nvPr/>
        </p:nvSpPr>
        <p:spPr>
          <a:xfrm>
            <a:off x="548640" y="457200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9" name="Tile text Attractions"/>
          <p:cNvSpPr txBox="1"/>
          <p:nvPr/>
        </p:nvSpPr>
        <p:spPr>
          <a:xfrm>
            <a:off x="822960" y="45720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Attractions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Tours &amp; activities</a:t>
            </a:r>
            <a:endParaRPr lang="en-US" sz="1800" dirty="0"/>
          </a:p>
        </p:txBody>
      </p:sp>
      <p:sp>
        <p:nvSpPr>
          <p:cNvPr id="20" name="Service tile Holiday Packages"/>
          <p:cNvSpPr/>
          <p:nvPr/>
        </p:nvSpPr>
        <p:spPr>
          <a:xfrm>
            <a:off x="4297680" y="457200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21" name="Tile text Holiday Packages"/>
          <p:cNvSpPr txBox="1"/>
          <p:nvPr/>
        </p:nvSpPr>
        <p:spPr>
          <a:xfrm>
            <a:off x="4572000" y="45720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Holiday Packages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Holiday packages</a:t>
            </a:r>
            <a:endParaRPr lang="en-US" sz="1800" dirty="0"/>
          </a:p>
        </p:txBody>
      </p:sp>
      <p:sp>
        <p:nvSpPr>
          <p:cNvPr id="22" name="Service tile Cruises"/>
          <p:cNvSpPr/>
          <p:nvPr/>
        </p:nvSpPr>
        <p:spPr>
          <a:xfrm>
            <a:off x="8046720" y="4572000"/>
            <a:ext cx="356616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23" name="Tile text Cruises"/>
          <p:cNvSpPr txBox="1"/>
          <p:nvPr/>
        </p:nvSpPr>
        <p:spPr>
          <a:xfrm>
            <a:off x="8321040" y="45720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Cruises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D7E4EE"/>
                </a:solidFill>
              </a:rPr>
              <a:t>Cruise packages</a:t>
            </a:r>
            <a:endParaRPr lang="en-US" sz="1800" dirty="0"/>
          </a:p>
        </p:txBody>
      </p:sp>
      <p:sp>
        <p:nvSpPr>
          <p:cNvPr id="24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▸ Next: zooming into the Flights form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7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 Guided Search Form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Four numbered steps take the user from route to travellers</a:t>
            </a:r>
            <a:endParaRPr lang="en-US" sz="1400" dirty="0"/>
          </a:p>
        </p:txBody>
      </p:sp>
      <p:sp>
        <p:nvSpPr>
          <p:cNvPr id="6" name="Form card 1"/>
          <p:cNvSpPr/>
          <p:nvPr/>
        </p:nvSpPr>
        <p:spPr>
          <a:xfrm>
            <a:off x="548640" y="1920240"/>
            <a:ext cx="5486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7" name="Form circle 1"/>
          <p:cNvSpPr/>
          <p:nvPr/>
        </p:nvSpPr>
        <p:spPr>
          <a:xfrm>
            <a:off x="731520" y="21214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Form number 1"/>
          <p:cNvSpPr txBox="1"/>
          <p:nvPr/>
        </p:nvSpPr>
        <p:spPr>
          <a:xfrm>
            <a:off x="7315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Form text 1"/>
          <p:cNvSpPr txBox="1"/>
          <p:nvPr/>
        </p:nvSpPr>
        <p:spPr>
          <a:xfrm>
            <a:off x="1371600" y="19202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Route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From and To, typed as plain city names (delhi → goa)</a:t>
            </a:r>
            <a:endParaRPr lang="en-US" sz="1600" dirty="0"/>
          </a:p>
        </p:txBody>
      </p:sp>
      <p:sp>
        <p:nvSpPr>
          <p:cNvPr id="10" name="Form card 2"/>
          <p:cNvSpPr/>
          <p:nvPr/>
        </p:nvSpPr>
        <p:spPr>
          <a:xfrm>
            <a:off x="548640" y="2944368"/>
            <a:ext cx="5486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1" name="Form circle 2"/>
          <p:cNvSpPr/>
          <p:nvPr/>
        </p:nvSpPr>
        <p:spPr>
          <a:xfrm>
            <a:off x="731520" y="31455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Form number 2"/>
          <p:cNvSpPr txBox="1"/>
          <p:nvPr/>
        </p:nvSpPr>
        <p:spPr>
          <a:xfrm>
            <a:off x="7315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Form text 2"/>
          <p:cNvSpPr txBox="1"/>
          <p:nvPr/>
        </p:nvSpPr>
        <p:spPr>
          <a:xfrm>
            <a:off x="1371600" y="294436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Single date, or Cheapest fare per date (Fast)</a:t>
            </a:r>
            <a:endParaRPr lang="en-US" sz="1600" dirty="0"/>
          </a:p>
        </p:txBody>
      </p:sp>
      <p:sp>
        <p:nvSpPr>
          <p:cNvPr id="14" name="Form card 3"/>
          <p:cNvSpPr/>
          <p:nvPr/>
        </p:nvSpPr>
        <p:spPr>
          <a:xfrm>
            <a:off x="548640" y="3968496"/>
            <a:ext cx="5486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5" name="Form circle 3"/>
          <p:cNvSpPr/>
          <p:nvPr/>
        </p:nvSpPr>
        <p:spPr>
          <a:xfrm>
            <a:off x="731520" y="41696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Form number 3"/>
          <p:cNvSpPr txBox="1"/>
          <p:nvPr/>
        </p:nvSpPr>
        <p:spPr>
          <a:xfrm>
            <a:off x="7315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Form text 3"/>
          <p:cNvSpPr txBox="1"/>
          <p:nvPr/>
        </p:nvSpPr>
        <p:spPr>
          <a:xfrm>
            <a:off x="1371600" y="396849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start date and how many days to compare</a:t>
            </a:r>
            <a:endParaRPr lang="en-US" sz="1600" dirty="0"/>
          </a:p>
        </p:txBody>
      </p:sp>
      <p:sp>
        <p:nvSpPr>
          <p:cNvPr id="18" name="Form card 4"/>
          <p:cNvSpPr/>
          <p:nvPr/>
        </p:nvSpPr>
        <p:spPr>
          <a:xfrm>
            <a:off x="548640" y="4992624"/>
            <a:ext cx="54864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9" name="Form circle 4"/>
          <p:cNvSpPr/>
          <p:nvPr/>
        </p:nvSpPr>
        <p:spPr>
          <a:xfrm>
            <a:off x="731520" y="51937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Form number 4"/>
          <p:cNvSpPr txBox="1"/>
          <p:nvPr/>
        </p:nvSpPr>
        <p:spPr>
          <a:xfrm>
            <a:off x="73152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Form text 4"/>
          <p:cNvSpPr txBox="1"/>
          <p:nvPr/>
        </p:nvSpPr>
        <p:spPr>
          <a:xfrm>
            <a:off x="1371600" y="499262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Travellers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Adults, children (&gt;2 yrs), infants (&lt;2 yrs); 1 infant per adult</a:t>
            </a:r>
            <a:endParaRPr lang="en-US" sz="1600" dirty="0"/>
          </a:p>
        </p:txBody>
      </p:sp>
      <p:sp>
        <p:nvSpPr>
          <p:cNvPr id="22" name="Image frame"/>
          <p:cNvSpPr/>
          <p:nvPr/>
        </p:nvSpPr>
        <p:spPr>
          <a:xfrm>
            <a:off x="6601968" y="1847088"/>
            <a:ext cx="4901184" cy="3951896"/>
          </a:xfrm>
          <a:prstGeom prst="rect">
            <a:avLst/>
          </a:prstGeom>
          <a:solidFill>
            <a:schemeClr val="bg1"/>
          </a:solidFill>
          <a:ln w="9525">
            <a:solidFill>
              <a:srgbClr val="C7D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3" name="Image 0" descr="Flights tab with Route, Mode, Dates, Travell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920240"/>
            <a:ext cx="4754880" cy="3805592"/>
          </a:xfrm>
          <a:prstGeom prst="rect">
            <a:avLst/>
          </a:prstGeom>
        </p:spPr>
      </p:pic>
      <p:sp>
        <p:nvSpPr>
          <p:cNvPr id="24" name="Caption"/>
          <p:cNvSpPr txBox="1"/>
          <p:nvPr/>
        </p:nvSpPr>
        <p:spPr>
          <a:xfrm>
            <a:off x="6601968" y="585384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Flights tab with Route, Mode, Dates, Travellers</a:t>
            </a:r>
            <a:endParaRPr lang="en-US" sz="1100" dirty="0"/>
          </a:p>
        </p:txBody>
      </p:sp>
      <p:sp>
        <p:nvSpPr>
          <p:cNvPr id="25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the fast mode: every date in one search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8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Cheapest Fare per Date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 search reads the lowest fare of every date in the window</a:t>
            </a:r>
            <a:endParaRPr lang="en-US" sz="1400" dirty="0"/>
          </a:p>
        </p:txBody>
      </p:sp>
      <p:sp>
        <p:nvSpPr>
          <p:cNvPr id="6" name="Bullets"/>
          <p:cNvSpPr txBox="1"/>
          <p:nvPr/>
        </p:nvSpPr>
        <p:spPr>
          <a:xfrm>
            <a:off x="548640" y="19659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Fast mode: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more searching date by date by hand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Test run: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delhi → goa, 10–11 Oct 2026, 2 adults + 1 infant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Live status: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“Agent is collecting fares for 2 days…”</a:t>
            </a:r>
            <a:endParaRPr lang="en-US" sz="1600" dirty="0"/>
          </a:p>
        </p:txBody>
      </p:sp>
      <p:sp>
        <p:nvSpPr>
          <p:cNvPr id="7" name="Milestone card"/>
          <p:cNvSpPr/>
          <p:nvPr/>
        </p:nvSpPr>
        <p:spPr>
          <a:xfrm>
            <a:off x="548640" y="4343400"/>
            <a:ext cx="4937760" cy="1463040"/>
          </a:xfrm>
          <a:prstGeom prst="roundRect">
            <a:avLst>
              <a:gd name="adj" fmla="val 6250"/>
            </a:avLst>
          </a:prstGeom>
          <a:solidFill>
            <a:srgbClr val="E6F4EE"/>
          </a:solidFill>
          <a:ln/>
        </p:spPr>
      </p:sp>
      <p:sp>
        <p:nvSpPr>
          <p:cNvPr id="8" name="Milestone text"/>
          <p:cNvSpPr txBox="1"/>
          <p:nvPr/>
        </p:nvSpPr>
        <p:spPr>
          <a:xfrm>
            <a:off x="777240" y="43434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✓  Why it matters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visit to several pages, run by the agent, replaces many manual searches. It may take a few minutes, and the app says so.</a:t>
            </a:r>
            <a:endParaRPr lang="en-US" sz="1600" dirty="0"/>
          </a:p>
        </p:txBody>
      </p:sp>
      <p:sp>
        <p:nvSpPr>
          <p:cNvPr id="9" name="Image frame"/>
          <p:cNvSpPr/>
          <p:nvPr/>
        </p:nvSpPr>
        <p:spPr>
          <a:xfrm>
            <a:off x="6236208" y="1847088"/>
            <a:ext cx="5449824" cy="3940540"/>
          </a:xfrm>
          <a:prstGeom prst="rect">
            <a:avLst/>
          </a:prstGeom>
          <a:solidFill>
            <a:schemeClr val="bg1"/>
          </a:solidFill>
          <a:ln w="9525">
            <a:solidFill>
              <a:srgbClr val="C7D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Get cheapest fares — agent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920240"/>
            <a:ext cx="5303520" cy="3794236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236208" y="584249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Get cheapest fares — agent at work</a:t>
            </a:r>
            <a:endParaRPr lang="en-US" sz="1100" dirty="0"/>
          </a:p>
        </p:txBody>
      </p:sp>
      <p:sp>
        <p:nvSpPr>
          <p:cNvPr id="12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reading the results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9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Results Dashboard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Key numbers first, then a planning tip generated from the data</a:t>
            </a:r>
            <a:endParaRPr lang="en-US" sz="1400" dirty="0"/>
          </a:p>
        </p:txBody>
      </p:sp>
      <p:sp>
        <p:nvSpPr>
          <p:cNvPr id="6" name="Stat card Cheapest"/>
          <p:cNvSpPr/>
          <p:nvPr/>
        </p:nvSpPr>
        <p:spPr>
          <a:xfrm>
            <a:off x="548640" y="1920240"/>
            <a:ext cx="4206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" name="Stat text Cheapest"/>
          <p:cNvSpPr txBox="1"/>
          <p:nvPr/>
        </p:nvSpPr>
        <p:spPr>
          <a:xfrm>
            <a:off x="777240" y="19202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Cheapest</a:t>
            </a:r>
            <a:endParaRPr lang="en-US" sz="13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₹ 6,758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2026-10-11 (Sun)</a:t>
            </a:r>
            <a:endParaRPr lang="en-US" sz="1300" dirty="0"/>
          </a:p>
        </p:txBody>
      </p:sp>
      <p:sp>
        <p:nvSpPr>
          <p:cNvPr id="8" name="Stat card Most expensive"/>
          <p:cNvSpPr/>
          <p:nvPr/>
        </p:nvSpPr>
        <p:spPr>
          <a:xfrm>
            <a:off x="548640" y="3246120"/>
            <a:ext cx="4206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Stat text Most expensive"/>
          <p:cNvSpPr txBox="1"/>
          <p:nvPr/>
        </p:nvSpPr>
        <p:spPr>
          <a:xfrm>
            <a:off x="777240" y="32461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Most expensive</a:t>
            </a:r>
            <a:endParaRPr lang="en-US" sz="13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₹ 7,461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2026-10-10 (Sat)</a:t>
            </a:r>
            <a:endParaRPr lang="en-US" sz="1300" dirty="0"/>
          </a:p>
        </p:txBody>
      </p:sp>
      <p:sp>
        <p:nvSpPr>
          <p:cNvPr id="10" name="Stat card Average"/>
          <p:cNvSpPr/>
          <p:nvPr/>
        </p:nvSpPr>
        <p:spPr>
          <a:xfrm>
            <a:off x="548640" y="4572000"/>
            <a:ext cx="4206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Stat text Average"/>
          <p:cNvSpPr txBox="1"/>
          <p:nvPr/>
        </p:nvSpPr>
        <p:spPr>
          <a:xfrm>
            <a:off x="777240" y="4572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Average</a:t>
            </a:r>
            <a:endParaRPr lang="en-US" sz="1300" dirty="0"/>
          </a:p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₹ 7,110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over 2 dates</a:t>
            </a:r>
            <a:endParaRPr lang="en-US" sz="1300" dirty="0"/>
          </a:p>
        </p:txBody>
      </p:sp>
      <p:sp>
        <p:nvSpPr>
          <p:cNvPr id="12" name="Image frame"/>
          <p:cNvSpPr/>
          <p:nvPr/>
        </p:nvSpPr>
        <p:spPr>
          <a:xfrm>
            <a:off x="5138928" y="1847088"/>
            <a:ext cx="6547104" cy="3901901"/>
          </a:xfrm>
          <a:prstGeom prst="rect">
            <a:avLst/>
          </a:prstGeom>
          <a:solidFill>
            <a:schemeClr val="bg1"/>
          </a:solidFill>
          <a:ln w="9525">
            <a:solidFill>
              <a:srgbClr val="C7D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3" name="Image 0" descr="Summary banner, key numbers and fare tr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920240"/>
            <a:ext cx="6400800" cy="3755597"/>
          </a:xfrm>
          <a:prstGeom prst="rect">
            <a:avLst/>
          </a:prstGeom>
        </p:spPr>
      </p:pic>
      <p:sp>
        <p:nvSpPr>
          <p:cNvPr id="14" name="Caption"/>
          <p:cNvSpPr txBox="1"/>
          <p:nvPr/>
        </p:nvSpPr>
        <p:spPr>
          <a:xfrm>
            <a:off x="5138928" y="5803853"/>
            <a:ext cx="6547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Summary banner, key numbers and fare trend</a:t>
            </a:r>
            <a:endParaRPr lang="en-US" sz="1100" dirty="0"/>
          </a:p>
        </p:txBody>
      </p:sp>
      <p:sp>
        <p:nvSpPr>
          <p:cNvPr id="15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tables, charts and CSV export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10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Charts, Tables, Export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Everything needed to decide, and to take the data away</a:t>
            </a:r>
            <a:endParaRPr lang="en-US" sz="1400" dirty="0"/>
          </a:p>
        </p:txBody>
      </p:sp>
      <p:sp>
        <p:nvSpPr>
          <p:cNvPr id="6" name="Bullets"/>
          <p:cNvSpPr txBox="1"/>
          <p:nvPr/>
        </p:nvSpPr>
        <p:spPr>
          <a:xfrm>
            <a:off x="548640" y="196596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Fare trend chart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a quick visual read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Top 5 cheapest dates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ranked with weekday and lowest fare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All dates table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date order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Download CSV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 Excel or further analysis</a:t>
            </a:r>
            <a:endParaRPr lang="en-US" sz="1600" dirty="0"/>
          </a:p>
        </p:txBody>
      </p:sp>
      <p:sp>
        <p:nvSpPr>
          <p:cNvPr id="7" name="Image frame"/>
          <p:cNvSpPr/>
          <p:nvPr/>
        </p:nvSpPr>
        <p:spPr>
          <a:xfrm>
            <a:off x="5321808" y="1847088"/>
            <a:ext cx="5815584" cy="3873173"/>
          </a:xfrm>
          <a:prstGeom prst="rect">
            <a:avLst/>
          </a:prstGeom>
          <a:solidFill>
            <a:schemeClr val="bg1"/>
          </a:solidFill>
          <a:ln w="9525">
            <a:solidFill>
              <a:srgbClr val="C7D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Fare chart, ranked tables and CSV down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920240"/>
            <a:ext cx="5669280" cy="372686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321808" y="5775125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Fare chart, ranked tables and CSV download</a:t>
            </a:r>
            <a:endParaRPr lang="en-US" sz="1100" dirty="0"/>
          </a:p>
        </p:txBody>
      </p:sp>
      <p:sp>
        <p:nvSpPr>
          <p:cNvPr id="10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two small things spotted in the screenshots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11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Polish Items Spotted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Small, fixable, and found by looking closely at the real output</a:t>
            </a:r>
            <a:endParaRPr lang="en-US" sz="1400" dirty="0"/>
          </a:p>
        </p:txBody>
      </p:sp>
      <p:sp>
        <p:nvSpPr>
          <p:cNvPr id="6" name="Issue card 1"/>
          <p:cNvSpPr/>
          <p:nvPr/>
        </p:nvSpPr>
        <p:spPr>
          <a:xfrm>
            <a:off x="548640" y="19659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8E9E9"/>
          </a:solidFill>
          <a:ln/>
        </p:spPr>
      </p:sp>
      <p:sp>
        <p:nvSpPr>
          <p:cNvPr id="7" name="Issue icon 1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Issue glyph 1"/>
          <p:cNvSpPr txBox="1"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!</a:t>
            </a:r>
            <a:endParaRPr lang="en-US" sz="2200" dirty="0"/>
          </a:p>
        </p:txBody>
      </p:sp>
      <p:sp>
        <p:nvSpPr>
          <p:cNvPr id="9" name="Issue title 1"/>
          <p:cNvSpPr txBox="1"/>
          <p:nvPr/>
        </p:nvSpPr>
        <p:spPr>
          <a:xfrm>
            <a:off x="155448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Chart axis shows hours, not dates</a:t>
            </a:r>
            <a:endParaRPr lang="en-US" sz="2000" dirty="0"/>
          </a:p>
        </p:txBody>
      </p:sp>
      <p:sp>
        <p:nvSpPr>
          <p:cNvPr id="10" name="Issue text 1"/>
          <p:cNvSpPr txBox="1"/>
          <p:nvPr/>
        </p:nvSpPr>
        <p:spPr>
          <a:xfrm>
            <a:off x="822960" y="30632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With only two dates, the chart treats the date as a continuous time axis: hairline bars at odd hours, and a y-axis that dips below zero.</a:t>
            </a:r>
            <a:endParaRPr lang="en-US" sz="1500" dirty="0"/>
          </a:p>
        </p:txBody>
      </p:sp>
      <p:sp>
        <p:nvSpPr>
          <p:cNvPr id="11" name="Issue fix 1"/>
          <p:cNvSpPr txBox="1"/>
          <p:nvPr/>
        </p:nvSpPr>
        <p:spPr>
          <a:xfrm>
            <a:off x="822960" y="4297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Fix: plot the date as text (categorical) and start the axis at 0.</a:t>
            </a:r>
            <a:endParaRPr lang="en-US" sz="1500" dirty="0"/>
          </a:p>
        </p:txBody>
      </p:sp>
      <p:sp>
        <p:nvSpPr>
          <p:cNvPr id="12" name="Issue card 2"/>
          <p:cNvSpPr/>
          <p:nvPr/>
        </p:nvSpPr>
        <p:spPr>
          <a:xfrm>
            <a:off x="6217920" y="1965960"/>
            <a:ext cx="53949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3" name="Issue icon 2"/>
          <p:cNvSpPr/>
          <p:nvPr/>
        </p:nvSpPr>
        <p:spPr>
          <a:xfrm>
            <a:off x="6492240" y="2240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Issue glyph 2"/>
          <p:cNvSpPr txBox="1"/>
          <p:nvPr/>
        </p:nvSpPr>
        <p:spPr>
          <a:xfrm>
            <a:off x="6492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?</a:t>
            </a:r>
            <a:endParaRPr lang="en-US" sz="2200" dirty="0"/>
          </a:p>
        </p:txBody>
      </p:sp>
      <p:sp>
        <p:nvSpPr>
          <p:cNvPr id="15" name="Issue title 2"/>
          <p:cNvSpPr txBox="1"/>
          <p:nvPr/>
        </p:nvSpPr>
        <p:spPr>
          <a:xfrm>
            <a:off x="722376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City to airport mapping</a:t>
            </a:r>
            <a:endParaRPr lang="en-US" sz="2000" dirty="0"/>
          </a:p>
        </p:txBody>
      </p:sp>
      <p:sp>
        <p:nvSpPr>
          <p:cNvPr id="16" name="Issue text 2"/>
          <p:cNvSpPr txBox="1"/>
          <p:nvPr/>
        </p:nvSpPr>
        <p:spPr>
          <a:xfrm>
            <a:off x="6492240" y="30632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search “New Delhi” produced the code AMD-HDO and the page heading read “Ghaziabad”, while listed flights land at DEL.</a:t>
            </a:r>
            <a:endParaRPr lang="en-US" sz="1500" dirty="0"/>
          </a:p>
        </p:txBody>
      </p:sp>
      <p:sp>
        <p:nvSpPr>
          <p:cNvPr id="17" name="Issue fix 2"/>
          <p:cNvSpPr txBox="1"/>
          <p:nvPr/>
        </p:nvSpPr>
        <p:spPr>
          <a:xfrm>
            <a:off x="6492240" y="4297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Fix: map each city to its IATA code (DEL) before searching.</a:t>
            </a:r>
            <a:endParaRPr lang="en-US" sz="1500" dirty="0"/>
          </a:p>
        </p:txBody>
      </p:sp>
      <p:sp>
        <p:nvSpPr>
          <p:cNvPr id="18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taking it public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chip"/>
          <p:cNvSpPr/>
          <p:nvPr/>
        </p:nvSpPr>
        <p:spPr>
          <a:xfrm>
            <a:off x="548640" y="38404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Chapter label"/>
          <p:cNvSpPr txBox="1"/>
          <p:nvPr/>
        </p:nvSpPr>
        <p:spPr>
          <a:xfrm>
            <a:off x="548640" y="384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CHAPTER 12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Going Live for Free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From a GitHub repo to a public link, with no paid hosting</a:t>
            </a:r>
            <a:endParaRPr lang="en-US" sz="1400" dirty="0"/>
          </a:p>
        </p:txBody>
      </p:sp>
      <p:sp>
        <p:nvSpPr>
          <p:cNvPr id="6" name="Deploy step 1"/>
          <p:cNvSpPr/>
          <p:nvPr/>
        </p:nvSpPr>
        <p:spPr>
          <a:xfrm>
            <a:off x="548640" y="210312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Deploy label 1"/>
          <p:cNvSpPr txBox="1"/>
          <p:nvPr/>
        </p:nvSpPr>
        <p:spPr>
          <a:xfrm>
            <a:off x="54864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GitHub repo</a:t>
            </a:r>
            <a:endParaRPr lang="en-US" sz="1800" dirty="0"/>
          </a:p>
        </p:txBody>
      </p:sp>
      <p:sp>
        <p:nvSpPr>
          <p:cNvPr id="8" name="Deploy arrow 1"/>
          <p:cNvSpPr txBox="1"/>
          <p:nvPr/>
        </p:nvSpPr>
        <p:spPr>
          <a:xfrm>
            <a:off x="3108960" y="210312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›</a:t>
            </a:r>
            <a:endParaRPr lang="en-US" sz="2600" dirty="0"/>
          </a:p>
        </p:txBody>
      </p:sp>
      <p:sp>
        <p:nvSpPr>
          <p:cNvPr id="9" name="Deploy desc 1"/>
          <p:cNvSpPr txBox="1"/>
          <p:nvPr/>
        </p:nvSpPr>
        <p:spPr>
          <a:xfrm>
            <a:off x="54864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Code pushed, .env kept out</a:t>
            </a:r>
            <a:endParaRPr lang="en-US" sz="1400" dirty="0"/>
          </a:p>
        </p:txBody>
      </p:sp>
      <p:sp>
        <p:nvSpPr>
          <p:cNvPr id="10" name="Deploy step 2"/>
          <p:cNvSpPr/>
          <p:nvPr/>
        </p:nvSpPr>
        <p:spPr>
          <a:xfrm>
            <a:off x="3383280" y="210312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Deploy label 2"/>
          <p:cNvSpPr txBox="1"/>
          <p:nvPr/>
        </p:nvSpPr>
        <p:spPr>
          <a:xfrm>
            <a:off x="338328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Docker image</a:t>
            </a:r>
            <a:endParaRPr lang="en-US" sz="1800" dirty="0"/>
          </a:p>
        </p:txBody>
      </p:sp>
      <p:sp>
        <p:nvSpPr>
          <p:cNvPr id="12" name="Deploy arrow 2"/>
          <p:cNvSpPr txBox="1"/>
          <p:nvPr/>
        </p:nvSpPr>
        <p:spPr>
          <a:xfrm>
            <a:off x="5943600" y="210312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›</a:t>
            </a:r>
            <a:endParaRPr lang="en-US" sz="2600" dirty="0"/>
          </a:p>
        </p:txBody>
      </p:sp>
      <p:sp>
        <p:nvSpPr>
          <p:cNvPr id="13" name="Deploy desc 2"/>
          <p:cNvSpPr txBox="1"/>
          <p:nvPr/>
        </p:nvSpPr>
        <p:spPr>
          <a:xfrm>
            <a:off x="338328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Python, Chromium and Playwright</a:t>
            </a:r>
            <a:endParaRPr lang="en-US" sz="1400" dirty="0"/>
          </a:p>
        </p:txBody>
      </p:sp>
      <p:sp>
        <p:nvSpPr>
          <p:cNvPr id="14" name="Deploy step 3"/>
          <p:cNvSpPr/>
          <p:nvPr/>
        </p:nvSpPr>
        <p:spPr>
          <a:xfrm>
            <a:off x="6217920" y="210312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Deploy label 3"/>
          <p:cNvSpPr txBox="1"/>
          <p:nvPr/>
        </p:nvSpPr>
        <p:spPr>
          <a:xfrm>
            <a:off x="621792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Free Space</a:t>
            </a:r>
            <a:endParaRPr lang="en-US" sz="1800" dirty="0"/>
          </a:p>
        </p:txBody>
      </p:sp>
      <p:sp>
        <p:nvSpPr>
          <p:cNvPr id="16" name="Deploy arrow 3"/>
          <p:cNvSpPr txBox="1"/>
          <p:nvPr/>
        </p:nvSpPr>
        <p:spPr>
          <a:xfrm>
            <a:off x="8778240" y="2103120"/>
            <a:ext cx="274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›</a:t>
            </a:r>
            <a:endParaRPr lang="en-US" sz="2600" dirty="0"/>
          </a:p>
        </p:txBody>
      </p:sp>
      <p:sp>
        <p:nvSpPr>
          <p:cNvPr id="17" name="Deploy desc 3"/>
          <p:cNvSpPr txBox="1"/>
          <p:nvPr/>
        </p:nvSpPr>
        <p:spPr>
          <a:xfrm>
            <a:off x="621792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Hugging Face Space, API key as a Secret</a:t>
            </a:r>
            <a:endParaRPr lang="en-US" sz="1400" dirty="0"/>
          </a:p>
        </p:txBody>
      </p:sp>
      <p:sp>
        <p:nvSpPr>
          <p:cNvPr id="18" name="Deploy step 4"/>
          <p:cNvSpPr/>
          <p:nvPr/>
        </p:nvSpPr>
        <p:spPr>
          <a:xfrm>
            <a:off x="9052560" y="210312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Deploy label 4"/>
          <p:cNvSpPr txBox="1"/>
          <p:nvPr/>
        </p:nvSpPr>
        <p:spPr>
          <a:xfrm>
            <a:off x="905256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Public URL</a:t>
            </a:r>
            <a:endParaRPr lang="en-US" sz="1800" dirty="0"/>
          </a:p>
        </p:txBody>
      </p:sp>
      <p:sp>
        <p:nvSpPr>
          <p:cNvPr id="20" name="Deploy desc 4"/>
          <p:cNvSpPr txBox="1"/>
          <p:nvPr/>
        </p:nvSpPr>
        <p:spPr>
          <a:xfrm>
            <a:off x="905256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Share the app link</a:t>
            </a:r>
            <a:endParaRPr lang="en-US" sz="1400" dirty="0"/>
          </a:p>
        </p:txBody>
      </p:sp>
      <p:sp>
        <p:nvSpPr>
          <p:cNvPr id="21" name="Guard card"/>
          <p:cNvSpPr/>
          <p:nvPr/>
        </p:nvSpPr>
        <p:spPr>
          <a:xfrm>
            <a:off x="548640" y="44805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6F4EE"/>
          </a:solidFill>
          <a:ln/>
        </p:spPr>
      </p:sp>
      <p:sp>
        <p:nvSpPr>
          <p:cNvPr id="22" name="Guard text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✓  Guarded along the way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Browser runs headless on the server. The Gemini API key lives only in Space Secrets, never in the repo.</a:t>
            </a:r>
            <a:endParaRPr lang="en-US" sz="1600" dirty="0"/>
          </a:p>
        </p:txBody>
      </p:sp>
      <p:sp>
        <p:nvSpPr>
          <p:cNvPr id="23" name="Next line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▸ Next: the finished journey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Finished Journey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Zero paid APIs, one working autonomous agent, one real dashboard</a:t>
            </a:r>
            <a:endParaRPr lang="en-US" sz="1400" dirty="0"/>
          </a:p>
        </p:txBody>
      </p:sp>
      <p:sp>
        <p:nvSpPr>
          <p:cNvPr id="4" name="Done card 1"/>
          <p:cNvSpPr/>
          <p:nvPr/>
        </p:nvSpPr>
        <p:spPr>
          <a:xfrm>
            <a:off x="548640" y="2011680"/>
            <a:ext cx="5394960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5" name="Done circle 1"/>
          <p:cNvSpPr/>
          <p:nvPr/>
        </p:nvSpPr>
        <p:spPr>
          <a:xfrm>
            <a:off x="777240" y="220370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Done tick 1"/>
          <p:cNvSpPr txBox="1"/>
          <p:nvPr/>
        </p:nvSpPr>
        <p:spPr>
          <a:xfrm>
            <a:off x="77724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Done text 1"/>
          <p:cNvSpPr txBox="1"/>
          <p:nvPr/>
        </p:nvSpPr>
        <p:spPr>
          <a:xfrm>
            <a:off x="1463040" y="201168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9 autonomous service modules</a:t>
            </a:r>
            <a:endParaRPr lang="en-US" sz="1600" dirty="0"/>
          </a:p>
        </p:txBody>
      </p:sp>
      <p:sp>
        <p:nvSpPr>
          <p:cNvPr id="8" name="Done card 2"/>
          <p:cNvSpPr/>
          <p:nvPr/>
        </p:nvSpPr>
        <p:spPr>
          <a:xfrm>
            <a:off x="6217920" y="2011680"/>
            <a:ext cx="5394960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9" name="Done circle 2"/>
          <p:cNvSpPr/>
          <p:nvPr/>
        </p:nvSpPr>
        <p:spPr>
          <a:xfrm>
            <a:off x="6446520" y="220370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Done tick 2"/>
          <p:cNvSpPr txBox="1"/>
          <p:nvPr/>
        </p:nvSpPr>
        <p:spPr>
          <a:xfrm>
            <a:off x="644652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Done text 2"/>
          <p:cNvSpPr txBox="1"/>
          <p:nvPr/>
        </p:nvSpPr>
        <p:spPr>
          <a:xfrm>
            <a:off x="7132320" y="201168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100% free tech stack (Gemini free tier)</a:t>
            </a:r>
            <a:endParaRPr lang="en-US" sz="1600" dirty="0"/>
          </a:p>
        </p:txBody>
      </p:sp>
      <p:sp>
        <p:nvSpPr>
          <p:cNvPr id="12" name="Done card 3"/>
          <p:cNvSpPr/>
          <p:nvPr/>
        </p:nvSpPr>
        <p:spPr>
          <a:xfrm>
            <a:off x="548640" y="3035808"/>
            <a:ext cx="5394960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13" name="Done circle 3"/>
          <p:cNvSpPr/>
          <p:nvPr/>
        </p:nvSpPr>
        <p:spPr>
          <a:xfrm>
            <a:off x="777240" y="322783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Done tick 3"/>
          <p:cNvSpPr txBox="1"/>
          <p:nvPr/>
        </p:nvSpPr>
        <p:spPr>
          <a:xfrm>
            <a:off x="7772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Done text 3"/>
          <p:cNvSpPr txBox="1"/>
          <p:nvPr/>
        </p:nvSpPr>
        <p:spPr>
          <a:xfrm>
            <a:off x="1463040" y="303580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Structured, validated JSON output</a:t>
            </a:r>
            <a:endParaRPr lang="en-US" sz="1600" dirty="0"/>
          </a:p>
        </p:txBody>
      </p:sp>
      <p:sp>
        <p:nvSpPr>
          <p:cNvPr id="16" name="Done card 4"/>
          <p:cNvSpPr/>
          <p:nvPr/>
        </p:nvSpPr>
        <p:spPr>
          <a:xfrm>
            <a:off x="6217920" y="3035808"/>
            <a:ext cx="5394960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17" name="Done circle 4"/>
          <p:cNvSpPr/>
          <p:nvPr/>
        </p:nvSpPr>
        <p:spPr>
          <a:xfrm>
            <a:off x="6446520" y="322783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Done tick 4"/>
          <p:cNvSpPr txBox="1"/>
          <p:nvPr/>
        </p:nvSpPr>
        <p:spPr>
          <a:xfrm>
            <a:off x="64465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Done text 4"/>
          <p:cNvSpPr txBox="1"/>
          <p:nvPr/>
        </p:nvSpPr>
        <p:spPr>
          <a:xfrm>
            <a:off x="7132320" y="303580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Streamlit app with a tile for every service</a:t>
            </a:r>
            <a:endParaRPr lang="en-US" sz="1600" dirty="0"/>
          </a:p>
        </p:txBody>
      </p:sp>
      <p:sp>
        <p:nvSpPr>
          <p:cNvPr id="20" name="Done card 5"/>
          <p:cNvSpPr/>
          <p:nvPr/>
        </p:nvSpPr>
        <p:spPr>
          <a:xfrm>
            <a:off x="548640" y="4059936"/>
            <a:ext cx="5394960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21" name="Done circle 5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Done tick 5"/>
          <p:cNvSpPr txBox="1"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Done text 5"/>
          <p:cNvSpPr txBox="1"/>
          <p:nvPr/>
        </p:nvSpPr>
        <p:spPr>
          <a:xfrm>
            <a:off x="1463040" y="4059936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Guided forms with adults, children, infants</a:t>
            </a:r>
            <a:endParaRPr lang="en-US" sz="1600" dirty="0"/>
          </a:p>
        </p:txBody>
      </p:sp>
      <p:sp>
        <p:nvSpPr>
          <p:cNvPr id="24" name="Done card 6"/>
          <p:cNvSpPr/>
          <p:nvPr/>
        </p:nvSpPr>
        <p:spPr>
          <a:xfrm>
            <a:off x="6217920" y="4059936"/>
            <a:ext cx="5394960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25" name="Done circle 6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Done tick 6"/>
          <p:cNvSpPr txBox="1"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Done text 6"/>
          <p:cNvSpPr txBox="1"/>
          <p:nvPr/>
        </p:nvSpPr>
        <p:spPr>
          <a:xfrm>
            <a:off x="7132320" y="4059936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Cheapest-fare-per-date fast mode</a:t>
            </a:r>
            <a:endParaRPr lang="en-US" sz="1600" dirty="0"/>
          </a:p>
        </p:txBody>
      </p:sp>
      <p:sp>
        <p:nvSpPr>
          <p:cNvPr id="28" name="Done card 7"/>
          <p:cNvSpPr/>
          <p:nvPr/>
        </p:nvSpPr>
        <p:spPr>
          <a:xfrm>
            <a:off x="548640" y="5084064"/>
            <a:ext cx="5394960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29" name="Done circle 7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0" name="Done tick 7"/>
          <p:cNvSpPr txBox="1"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✓</a:t>
            </a:r>
            <a:endParaRPr lang="en-US" sz="1800" dirty="0"/>
          </a:p>
        </p:txBody>
      </p:sp>
      <p:sp>
        <p:nvSpPr>
          <p:cNvPr id="31" name="Done text 7"/>
          <p:cNvSpPr txBox="1"/>
          <p:nvPr/>
        </p:nvSpPr>
        <p:spPr>
          <a:xfrm>
            <a:off x="1463040" y="508406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Metrics, fare chart and ranked tables</a:t>
            </a:r>
            <a:endParaRPr lang="en-US" sz="1600" dirty="0"/>
          </a:p>
        </p:txBody>
      </p:sp>
      <p:sp>
        <p:nvSpPr>
          <p:cNvPr id="32" name="Done card 8"/>
          <p:cNvSpPr/>
          <p:nvPr/>
        </p:nvSpPr>
        <p:spPr>
          <a:xfrm>
            <a:off x="6217920" y="5084064"/>
            <a:ext cx="5394960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33" name="Done circle 8"/>
          <p:cNvSpPr/>
          <p:nvPr/>
        </p:nvSpPr>
        <p:spPr>
          <a:xfrm>
            <a:off x="6446520" y="527608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Done tick 8"/>
          <p:cNvSpPr txBox="1"/>
          <p:nvPr/>
        </p:nvSpPr>
        <p:spPr>
          <a:xfrm>
            <a:off x="644652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✓</a:t>
            </a:r>
            <a:endParaRPr lang="en-US" sz="1800" dirty="0"/>
          </a:p>
        </p:txBody>
      </p:sp>
      <p:sp>
        <p:nvSpPr>
          <p:cNvPr id="35" name="Done text 8"/>
          <p:cNvSpPr txBox="1"/>
          <p:nvPr/>
        </p:nvSpPr>
        <p:spPr>
          <a:xfrm>
            <a:off x="7132320" y="508406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CSV download and public GitHub repo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1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chemeClr val="accent2">
              <a:alpha val="4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3" name="Decor circl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822960" y="3794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MakeMyTrip: Autonomous Web Operations Agent — The Upgrade Story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Built with browser-use · Playwright · Google Gemini (free) · Streamlit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MT Journey">
  <a:themeElements>
    <a:clrScheme name="MMT Journey">
      <a:dk1>
        <a:srgbClr val="1A2430"/>
      </a:dk1>
      <a:lt1>
        <a:srgbClr val="FFFFFF"/>
      </a:lt1>
      <a:dk2>
        <a:srgbClr val="21295C"/>
      </a:dk2>
      <a:lt2>
        <a:srgbClr val="EAF4F8"/>
      </a:lt2>
      <a:accent1>
        <a:srgbClr val="065A82"/>
      </a:accent1>
      <a:accent2>
        <a:srgbClr val="1C7293"/>
      </a:accent2>
      <a:accent3>
        <a:srgbClr val="9FE6C8"/>
      </a:accent3>
      <a:accent4>
        <a:srgbClr val="8A2E2E"/>
      </a:accent4>
      <a:accent5>
        <a:srgbClr val="5C6B73"/>
      </a:accent5>
      <a:accent6>
        <a:srgbClr val="1E5C4A"/>
      </a:accent6>
      <a:hlink>
        <a:srgbClr val="065A82"/>
      </a:hlink>
      <a:folHlink>
        <a:srgbClr val="5C6B73"/>
      </a:folHlink>
    </a:clrScheme>
    <a:fontScheme name="MMT Journ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MakeMyTrip Autonomous Web Agent - The Upgrade Story</dc:title>
  <dc:subject>PptxGenJS Presentation</dc:subject>
  <dc:creator>PptxGenJS</dc:creator>
  <cp:lastModifiedBy>PptxGenJS</cp:lastModifiedBy>
  <cp:revision>1</cp:revision>
  <dcterms:created xsi:type="dcterms:W3CDTF">2026-10-10T09:36:28Z</dcterms:created>
  <dcterms:modified xsi:type="dcterms:W3CDTF">2026-10-10T09:36:28Z</dcterms:modified>
</cp:coreProperties>
</file>